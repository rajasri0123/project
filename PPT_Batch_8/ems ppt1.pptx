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Clear Sans" panose="020B0604020202020204" charset="0"/>
      <p:regular r:id="rId18"/>
    </p:embeddedFont>
    <p:embeddedFont>
      <p:font typeface="Sansation Bold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81EB14-7AE2-4422-9C7E-B85AA3AC65CC}" v="37" dt="2026-04-11T06:02:33.1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46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eobe Chuttugulla" userId="d751c35806f306e3" providerId="LiveId" clId="{50888792-FFB1-4B90-A944-DE4114403D2E}"/>
    <pc:docChg chg="modSld">
      <pc:chgData name="Pheobe Chuttugulla" userId="d751c35806f306e3" providerId="LiveId" clId="{50888792-FFB1-4B90-A944-DE4114403D2E}" dt="2026-04-11T06:07:58.616" v="249" actId="20577"/>
      <pc:docMkLst>
        <pc:docMk/>
      </pc:docMkLst>
      <pc:sldChg chg="addSp delSp modSp mod">
        <pc:chgData name="Pheobe Chuttugulla" userId="d751c35806f306e3" providerId="LiveId" clId="{50888792-FFB1-4B90-A944-DE4114403D2E}" dt="2026-04-11T06:07:58.616" v="249" actId="20577"/>
        <pc:sldMkLst>
          <pc:docMk/>
          <pc:sldMk cId="0" sldId="256"/>
        </pc:sldMkLst>
        <pc:spChg chg="mod">
          <ac:chgData name="Pheobe Chuttugulla" userId="d751c35806f306e3" providerId="LiveId" clId="{50888792-FFB1-4B90-A944-DE4114403D2E}" dt="2026-04-11T06:07:58.616" v="249" actId="20577"/>
          <ac:spMkLst>
            <pc:docMk/>
            <pc:sldMk cId="0" sldId="256"/>
            <ac:spMk id="8" creationId="{00000000-0000-0000-0000-000000000000}"/>
          </ac:spMkLst>
        </pc:spChg>
        <pc:picChg chg="add mod">
          <ac:chgData name="Pheobe Chuttugulla" userId="d751c35806f306e3" providerId="LiveId" clId="{50888792-FFB1-4B90-A944-DE4114403D2E}" dt="2026-04-11T06:02:33.128" v="36"/>
          <ac:picMkLst>
            <pc:docMk/>
            <pc:sldMk cId="0" sldId="256"/>
            <ac:picMk id="9" creationId="{E8C9CD1C-75E6-B545-F942-B84D63F91F61}"/>
          </ac:picMkLst>
        </pc:picChg>
        <pc:picChg chg="add del mod">
          <ac:chgData name="Pheobe Chuttugulla" userId="d751c35806f306e3" providerId="LiveId" clId="{50888792-FFB1-4B90-A944-DE4114403D2E}" dt="2026-04-11T06:02:31.861" v="35" actId="478"/>
          <ac:picMkLst>
            <pc:docMk/>
            <pc:sldMk cId="0" sldId="256"/>
            <ac:picMk id="1026" creationId="{9191B9C1-E7AC-8DC7-943D-DCCD92A1BB94}"/>
          </ac:picMkLst>
        </pc:picChg>
      </pc:sldChg>
      <pc:sldChg chg="addSp delSp modSp">
        <pc:chgData name="Pheobe Chuttugulla" userId="d751c35806f306e3" providerId="LiveId" clId="{50888792-FFB1-4B90-A944-DE4114403D2E}" dt="2026-04-11T06:02:27.821" v="34"/>
        <pc:sldMkLst>
          <pc:docMk/>
          <pc:sldMk cId="0" sldId="257"/>
        </pc:sldMkLst>
        <pc:picChg chg="add mod">
          <ac:chgData name="Pheobe Chuttugulla" userId="d751c35806f306e3" providerId="LiveId" clId="{50888792-FFB1-4B90-A944-DE4114403D2E}" dt="2026-04-11T06:02:27.821" v="34"/>
          <ac:picMkLst>
            <pc:docMk/>
            <pc:sldMk cId="0" sldId="257"/>
            <ac:picMk id="10" creationId="{FD36002A-6EDD-8DE6-0E31-20C99B6777B3}"/>
          </ac:picMkLst>
        </pc:picChg>
        <pc:picChg chg="add del mod">
          <ac:chgData name="Pheobe Chuttugulla" userId="d751c35806f306e3" providerId="LiveId" clId="{50888792-FFB1-4B90-A944-DE4114403D2E}" dt="2026-04-11T06:02:26.804" v="33" actId="478"/>
          <ac:picMkLst>
            <pc:docMk/>
            <pc:sldMk cId="0" sldId="257"/>
            <ac:picMk id="2050" creationId="{9BCC395E-7679-85AB-BE83-8D2CD7002F28}"/>
          </ac:picMkLst>
        </pc:picChg>
      </pc:sldChg>
      <pc:sldChg chg="addSp delSp modSp">
        <pc:chgData name="Pheobe Chuttugulla" userId="d751c35806f306e3" providerId="LiveId" clId="{50888792-FFB1-4B90-A944-DE4114403D2E}" dt="2026-04-11T06:02:22.780" v="32"/>
        <pc:sldMkLst>
          <pc:docMk/>
          <pc:sldMk cId="0" sldId="258"/>
        </pc:sldMkLst>
        <pc:picChg chg="add del mod">
          <ac:chgData name="Pheobe Chuttugulla" userId="d751c35806f306e3" providerId="LiveId" clId="{50888792-FFB1-4B90-A944-DE4114403D2E}" dt="2026-04-11T06:02:21.683" v="31" actId="478"/>
          <ac:picMkLst>
            <pc:docMk/>
            <pc:sldMk cId="0" sldId="258"/>
            <ac:picMk id="10" creationId="{127CF0EC-6E9D-FBFD-B531-E8384F611812}"/>
          </ac:picMkLst>
        </pc:picChg>
        <pc:picChg chg="add mod">
          <ac:chgData name="Pheobe Chuttugulla" userId="d751c35806f306e3" providerId="LiveId" clId="{50888792-FFB1-4B90-A944-DE4114403D2E}" dt="2026-04-11T06:02:22.780" v="32"/>
          <ac:picMkLst>
            <pc:docMk/>
            <pc:sldMk cId="0" sldId="258"/>
            <ac:picMk id="11" creationId="{0DBB876B-4A15-0A45-C01E-23D8B278CB19}"/>
          </ac:picMkLst>
        </pc:picChg>
      </pc:sldChg>
      <pc:sldChg chg="addSp modSp">
        <pc:chgData name="Pheobe Chuttugulla" userId="d751c35806f306e3" providerId="LiveId" clId="{50888792-FFB1-4B90-A944-DE4114403D2E}" dt="2026-04-11T06:00:55.314" v="18"/>
        <pc:sldMkLst>
          <pc:docMk/>
          <pc:sldMk cId="0" sldId="259"/>
        </pc:sldMkLst>
        <pc:picChg chg="add mod">
          <ac:chgData name="Pheobe Chuttugulla" userId="d751c35806f306e3" providerId="LiveId" clId="{50888792-FFB1-4B90-A944-DE4114403D2E}" dt="2026-04-11T06:00:55.314" v="18"/>
          <ac:picMkLst>
            <pc:docMk/>
            <pc:sldMk cId="0" sldId="259"/>
            <ac:picMk id="9" creationId="{25C14F62-B100-7A1E-9661-3126B7BFC63A}"/>
          </ac:picMkLst>
        </pc:picChg>
      </pc:sldChg>
      <pc:sldChg chg="addSp modSp">
        <pc:chgData name="Pheobe Chuttugulla" userId="d751c35806f306e3" providerId="LiveId" clId="{50888792-FFB1-4B90-A944-DE4114403D2E}" dt="2026-04-11T06:01:01.412" v="19"/>
        <pc:sldMkLst>
          <pc:docMk/>
          <pc:sldMk cId="0" sldId="260"/>
        </pc:sldMkLst>
        <pc:picChg chg="add mod">
          <ac:chgData name="Pheobe Chuttugulla" userId="d751c35806f306e3" providerId="LiveId" clId="{50888792-FFB1-4B90-A944-DE4114403D2E}" dt="2026-04-11T06:01:01.412" v="19"/>
          <ac:picMkLst>
            <pc:docMk/>
            <pc:sldMk cId="0" sldId="260"/>
            <ac:picMk id="9" creationId="{85976F3D-9ED4-077A-3FDE-40C159B5B889}"/>
          </ac:picMkLst>
        </pc:picChg>
      </pc:sldChg>
      <pc:sldChg chg="addSp modSp">
        <pc:chgData name="Pheobe Chuttugulla" userId="d751c35806f306e3" providerId="LiveId" clId="{50888792-FFB1-4B90-A944-DE4114403D2E}" dt="2026-04-11T06:01:09.591" v="20"/>
        <pc:sldMkLst>
          <pc:docMk/>
          <pc:sldMk cId="0" sldId="261"/>
        </pc:sldMkLst>
        <pc:picChg chg="add mod">
          <ac:chgData name="Pheobe Chuttugulla" userId="d751c35806f306e3" providerId="LiveId" clId="{50888792-FFB1-4B90-A944-DE4114403D2E}" dt="2026-04-11T06:01:09.591" v="20"/>
          <ac:picMkLst>
            <pc:docMk/>
            <pc:sldMk cId="0" sldId="261"/>
            <ac:picMk id="10" creationId="{2F613C25-8ECB-3DA8-12C3-1D8199BC0B4D}"/>
          </ac:picMkLst>
        </pc:picChg>
      </pc:sldChg>
      <pc:sldChg chg="addSp modSp">
        <pc:chgData name="Pheobe Chuttugulla" userId="d751c35806f306e3" providerId="LiveId" clId="{50888792-FFB1-4B90-A944-DE4114403D2E}" dt="2026-04-11T06:01:15.591" v="21"/>
        <pc:sldMkLst>
          <pc:docMk/>
          <pc:sldMk cId="0" sldId="262"/>
        </pc:sldMkLst>
        <pc:picChg chg="add mod">
          <ac:chgData name="Pheobe Chuttugulla" userId="d751c35806f306e3" providerId="LiveId" clId="{50888792-FFB1-4B90-A944-DE4114403D2E}" dt="2026-04-11T06:01:15.591" v="21"/>
          <ac:picMkLst>
            <pc:docMk/>
            <pc:sldMk cId="0" sldId="262"/>
            <ac:picMk id="8" creationId="{EE5BE438-662D-C262-E0C8-02FDB6EC1A4E}"/>
          </ac:picMkLst>
        </pc:picChg>
      </pc:sldChg>
      <pc:sldChg chg="addSp modSp">
        <pc:chgData name="Pheobe Chuttugulla" userId="d751c35806f306e3" providerId="LiveId" clId="{50888792-FFB1-4B90-A944-DE4114403D2E}" dt="2026-04-11T06:01:20.603" v="22"/>
        <pc:sldMkLst>
          <pc:docMk/>
          <pc:sldMk cId="0" sldId="263"/>
        </pc:sldMkLst>
        <pc:picChg chg="add mod">
          <ac:chgData name="Pheobe Chuttugulla" userId="d751c35806f306e3" providerId="LiveId" clId="{50888792-FFB1-4B90-A944-DE4114403D2E}" dt="2026-04-11T06:01:20.603" v="22"/>
          <ac:picMkLst>
            <pc:docMk/>
            <pc:sldMk cId="0" sldId="263"/>
            <ac:picMk id="8" creationId="{D9B83544-F4D9-9B13-52D7-A6A65864D9AE}"/>
          </ac:picMkLst>
        </pc:picChg>
      </pc:sldChg>
      <pc:sldChg chg="addSp modSp">
        <pc:chgData name="Pheobe Chuttugulla" userId="d751c35806f306e3" providerId="LiveId" clId="{50888792-FFB1-4B90-A944-DE4114403D2E}" dt="2026-04-11T06:01:26.291" v="23"/>
        <pc:sldMkLst>
          <pc:docMk/>
          <pc:sldMk cId="0" sldId="264"/>
        </pc:sldMkLst>
        <pc:picChg chg="add mod">
          <ac:chgData name="Pheobe Chuttugulla" userId="d751c35806f306e3" providerId="LiveId" clId="{50888792-FFB1-4B90-A944-DE4114403D2E}" dt="2026-04-11T06:01:26.291" v="23"/>
          <ac:picMkLst>
            <pc:docMk/>
            <pc:sldMk cId="0" sldId="264"/>
            <ac:picMk id="9" creationId="{F410C0C4-FBD8-64B3-B759-23287F52E202}"/>
          </ac:picMkLst>
        </pc:picChg>
      </pc:sldChg>
      <pc:sldChg chg="addSp modSp">
        <pc:chgData name="Pheobe Chuttugulla" userId="d751c35806f306e3" providerId="LiveId" clId="{50888792-FFB1-4B90-A944-DE4114403D2E}" dt="2026-04-11T06:01:29.978" v="24"/>
        <pc:sldMkLst>
          <pc:docMk/>
          <pc:sldMk cId="0" sldId="265"/>
        </pc:sldMkLst>
        <pc:picChg chg="add mod">
          <ac:chgData name="Pheobe Chuttugulla" userId="d751c35806f306e3" providerId="LiveId" clId="{50888792-FFB1-4B90-A944-DE4114403D2E}" dt="2026-04-11T06:01:29.978" v="24"/>
          <ac:picMkLst>
            <pc:docMk/>
            <pc:sldMk cId="0" sldId="265"/>
            <ac:picMk id="8" creationId="{4A70A44A-820B-F62C-E4F8-935746E013FD}"/>
          </ac:picMkLst>
        </pc:picChg>
      </pc:sldChg>
      <pc:sldChg chg="addSp modSp">
        <pc:chgData name="Pheobe Chuttugulla" userId="d751c35806f306e3" providerId="LiveId" clId="{50888792-FFB1-4B90-A944-DE4114403D2E}" dt="2026-04-11T06:01:35.443" v="25"/>
        <pc:sldMkLst>
          <pc:docMk/>
          <pc:sldMk cId="0" sldId="266"/>
        </pc:sldMkLst>
        <pc:picChg chg="add mod">
          <ac:chgData name="Pheobe Chuttugulla" userId="d751c35806f306e3" providerId="LiveId" clId="{50888792-FFB1-4B90-A944-DE4114403D2E}" dt="2026-04-11T06:01:35.443" v="25"/>
          <ac:picMkLst>
            <pc:docMk/>
            <pc:sldMk cId="0" sldId="266"/>
            <ac:picMk id="9" creationId="{28535262-EB70-C1F1-A178-2086F80BC30B}"/>
          </ac:picMkLst>
        </pc:picChg>
      </pc:sldChg>
      <pc:sldChg chg="addSp modSp">
        <pc:chgData name="Pheobe Chuttugulla" userId="d751c35806f306e3" providerId="LiveId" clId="{50888792-FFB1-4B90-A944-DE4114403D2E}" dt="2026-04-11T06:01:39.073" v="26"/>
        <pc:sldMkLst>
          <pc:docMk/>
          <pc:sldMk cId="0" sldId="267"/>
        </pc:sldMkLst>
        <pc:picChg chg="add mod">
          <ac:chgData name="Pheobe Chuttugulla" userId="d751c35806f306e3" providerId="LiveId" clId="{50888792-FFB1-4B90-A944-DE4114403D2E}" dt="2026-04-11T06:01:39.073" v="26"/>
          <ac:picMkLst>
            <pc:docMk/>
            <pc:sldMk cId="0" sldId="267"/>
            <ac:picMk id="8" creationId="{9F234022-C508-0C39-0894-B1EDF37E5CA7}"/>
          </ac:picMkLst>
        </pc:picChg>
      </pc:sldChg>
      <pc:sldChg chg="addSp modSp">
        <pc:chgData name="Pheobe Chuttugulla" userId="d751c35806f306e3" providerId="LiveId" clId="{50888792-FFB1-4B90-A944-DE4114403D2E}" dt="2026-04-11T06:01:43.862" v="27"/>
        <pc:sldMkLst>
          <pc:docMk/>
          <pc:sldMk cId="3124656649" sldId="268"/>
        </pc:sldMkLst>
        <pc:picChg chg="add mod">
          <ac:chgData name="Pheobe Chuttugulla" userId="d751c35806f306e3" providerId="LiveId" clId="{50888792-FFB1-4B90-A944-DE4114403D2E}" dt="2026-04-11T06:01:43.862" v="27"/>
          <ac:picMkLst>
            <pc:docMk/>
            <pc:sldMk cId="3124656649" sldId="268"/>
            <ac:picMk id="10" creationId="{4AEBFE45-4C31-25E0-246E-9939168E06E5}"/>
          </ac:picMkLst>
        </pc:picChg>
      </pc:sldChg>
      <pc:sldChg chg="addSp modSp">
        <pc:chgData name="Pheobe Chuttugulla" userId="d751c35806f306e3" providerId="LiveId" clId="{50888792-FFB1-4B90-A944-DE4114403D2E}" dt="2026-04-11T06:01:47.351" v="28"/>
        <pc:sldMkLst>
          <pc:docMk/>
          <pc:sldMk cId="1930009907" sldId="269"/>
        </pc:sldMkLst>
        <pc:picChg chg="add mod">
          <ac:chgData name="Pheobe Chuttugulla" userId="d751c35806f306e3" providerId="LiveId" clId="{50888792-FFB1-4B90-A944-DE4114403D2E}" dt="2026-04-11T06:01:47.351" v="28"/>
          <ac:picMkLst>
            <pc:docMk/>
            <pc:sldMk cId="1930009907" sldId="269"/>
            <ac:picMk id="8" creationId="{F9C9E7ED-72B2-A535-4C8A-DA015B1DD5A2}"/>
          </ac:picMkLst>
        </pc:picChg>
      </pc:sldChg>
      <pc:sldChg chg="addSp modSp">
        <pc:chgData name="Pheobe Chuttugulla" userId="d751c35806f306e3" providerId="LiveId" clId="{50888792-FFB1-4B90-A944-DE4114403D2E}" dt="2026-04-11T06:01:54.246" v="29"/>
        <pc:sldMkLst>
          <pc:docMk/>
          <pc:sldMk cId="3457330759" sldId="270"/>
        </pc:sldMkLst>
        <pc:picChg chg="add mod">
          <ac:chgData name="Pheobe Chuttugulla" userId="d751c35806f306e3" providerId="LiveId" clId="{50888792-FFB1-4B90-A944-DE4114403D2E}" dt="2026-04-11T06:01:54.246" v="29"/>
          <ac:picMkLst>
            <pc:docMk/>
            <pc:sldMk cId="3457330759" sldId="270"/>
            <ac:picMk id="8" creationId="{F74FBE3A-B187-6300-7EA4-6BC828168B07}"/>
          </ac:picMkLst>
        </pc:picChg>
      </pc:sldChg>
      <pc:sldChg chg="addSp modSp">
        <pc:chgData name="Pheobe Chuttugulla" userId="d751c35806f306e3" providerId="LiveId" clId="{50888792-FFB1-4B90-A944-DE4114403D2E}" dt="2026-04-11T06:01:58.907" v="30"/>
        <pc:sldMkLst>
          <pc:docMk/>
          <pc:sldMk cId="2889603157" sldId="271"/>
        </pc:sldMkLst>
        <pc:picChg chg="add mod">
          <ac:chgData name="Pheobe Chuttugulla" userId="d751c35806f306e3" providerId="LiveId" clId="{50888792-FFB1-4B90-A944-DE4114403D2E}" dt="2026-04-11T06:01:58.907" v="30"/>
          <ac:picMkLst>
            <pc:docMk/>
            <pc:sldMk cId="2889603157" sldId="271"/>
            <ac:picMk id="8" creationId="{CE572045-CF90-D3C7-DD48-9CA82147C99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Relationship Id="rId9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372376" y="3771900"/>
            <a:ext cx="13210333" cy="57429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ct val="150000"/>
              </a:lnSpc>
              <a:spcBef>
                <a:spcPct val="0"/>
              </a:spcBef>
            </a:pPr>
            <a:r>
              <a:rPr lang="en-US" sz="2800" spc="109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                    </a:t>
            </a:r>
            <a:r>
              <a:rPr lang="en-US" sz="2800" b="1" u="sng" spc="109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Batch - 08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</a:pPr>
            <a:r>
              <a:rPr lang="en-US" sz="2800" spc="109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K. Bhaavya Pranathi (22221A0540)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</a:pPr>
            <a:r>
              <a:rPr lang="en-US" sz="2800" spc="109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K. Rajasri (22221A0550)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</a:pPr>
            <a:r>
              <a:rPr lang="en-US" sz="2800" spc="109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CH. Pheobe Jyothi (22221A0524)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</a:pPr>
            <a:r>
              <a:rPr lang="en-US" sz="2800" spc="109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K. Indrani (22221A0552)</a:t>
            </a:r>
          </a:p>
          <a:p>
            <a:pPr marL="0" lvl="0" indent="0">
              <a:lnSpc>
                <a:spcPct val="150000"/>
              </a:lnSpc>
              <a:spcBef>
                <a:spcPct val="0"/>
              </a:spcBef>
            </a:pPr>
            <a:endParaRPr lang="en-US" sz="2800" spc="109" dirty="0">
              <a:solidFill>
                <a:srgbClr val="3F3E3A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800" b="1" spc="109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Project Guide : </a:t>
            </a:r>
            <a:r>
              <a:rPr lang="en-US" sz="2800" spc="109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G. Santhoshi Lakshmi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800" b="1" spc="109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Department   : </a:t>
            </a:r>
            <a:r>
              <a:rPr lang="en-US" sz="2800" spc="109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Department of computer science and engineering</a:t>
            </a:r>
          </a:p>
          <a:p>
            <a:pPr marL="0" lvl="0" indent="0" algn="just">
              <a:lnSpc>
                <a:spcPct val="150000"/>
              </a:lnSpc>
              <a:spcBef>
                <a:spcPct val="0"/>
              </a:spcBef>
            </a:pPr>
            <a:r>
              <a:rPr lang="en-US" sz="2800" b="1" spc="109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College : </a:t>
            </a:r>
            <a:r>
              <a:rPr lang="en-US" sz="2800" spc="109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BVC Engineering College , </a:t>
            </a:r>
            <a:r>
              <a:rPr lang="en-US" sz="2800" spc="109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Odalarevu</a:t>
            </a:r>
            <a:endParaRPr lang="en-US" sz="2800" spc="109" dirty="0">
              <a:solidFill>
                <a:srgbClr val="3F3E3A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286388" y="1563831"/>
            <a:ext cx="134112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6000" b="1" spc="399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SMART ROLE-BASED EMPLOYEE MANAGEMENT SYSTEM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E8C9CD1C-75E6-B545-F942-B84D63F91F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0" y="12449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334205" y="2857500"/>
            <a:ext cx="12070701" cy="6339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100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Employee Management System(EMS) is a web-based application developed to manage employee data efficiently.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100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It helps in maintaining employee records, attendance, and organizational hierarchy in a structured way.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100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The system provides secure role-based access to different users such as Admin, HR, and Employee.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100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It replaces traditional manual systems like paper records and Excel sheets.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100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The application is developed using Java Full Stack technologies for better performance and scalability.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34205" y="1104900"/>
            <a:ext cx="11689257" cy="137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49"/>
              </a:lnSpc>
              <a:spcBef>
                <a:spcPct val="0"/>
              </a:spcBef>
            </a:pPr>
            <a:r>
              <a:rPr lang="en-US" sz="6000" b="1" spc="104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INTRODUCTION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FD36002A-6EDD-8DE6-0E31-20C99B6777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0" y="12449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429030" y="3009900"/>
            <a:ext cx="12070701" cy="6997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lvl="0" indent="-457200">
              <a:lnSpc>
                <a:spcPts val="503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100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Many organizations still depend on manual record-keeping and Excel sheets to manage employee data.</a:t>
            </a:r>
          </a:p>
          <a:p>
            <a:pPr marL="457200" lvl="0" indent="-457200">
              <a:lnSpc>
                <a:spcPts val="503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100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These methods lead to data redundancy, inconsistency, and human errors.</a:t>
            </a:r>
          </a:p>
          <a:p>
            <a:pPr marL="457200" lvl="0" indent="-457200">
              <a:lnSpc>
                <a:spcPts val="503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100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Lack of proper authentication and access control causes security issues.</a:t>
            </a:r>
          </a:p>
          <a:p>
            <a:pPr marL="457200" lvl="0" indent="-457200">
              <a:lnSpc>
                <a:spcPts val="503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100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Managing employee records becomes difficult as the organization grows.</a:t>
            </a:r>
          </a:p>
          <a:p>
            <a:pPr marL="457200" lvl="0" indent="-457200">
              <a:lnSpc>
                <a:spcPts val="503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spc="100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There is a need for a centralized and secure system to handle employee management efficiently.</a:t>
            </a:r>
          </a:p>
          <a:p>
            <a:pPr marL="457200" lvl="0" indent="-457200" algn="ctr">
              <a:lnSpc>
                <a:spcPts val="5032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354" spc="100" dirty="0">
              <a:solidFill>
                <a:srgbClr val="3F3E3A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429030" y="1028700"/>
            <a:ext cx="11689257" cy="137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49"/>
              </a:lnSpc>
              <a:spcBef>
                <a:spcPct val="0"/>
              </a:spcBef>
            </a:pPr>
            <a:r>
              <a:rPr lang="en-US" sz="6000" b="1" spc="104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PROBLEM STATEMENT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0DBB876B-4A15-0A45-C01E-23D8B278C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0" y="12449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99371" y="1055705"/>
            <a:ext cx="11689257" cy="137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49"/>
              </a:lnSpc>
              <a:spcBef>
                <a:spcPct val="0"/>
              </a:spcBef>
            </a:pPr>
            <a:r>
              <a:rPr lang="en-US" sz="6000" b="1" spc="104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OBJECTIVES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5245DA-41C8-90DA-D768-6A0B9C2F3712}"/>
              </a:ext>
            </a:extLst>
          </p:cNvPr>
          <p:cNvSpPr txBox="1"/>
          <p:nvPr/>
        </p:nvSpPr>
        <p:spPr>
          <a:xfrm>
            <a:off x="4038600" y="3390900"/>
            <a:ext cx="11440714" cy="4495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lear Sans" panose="020B0604020202020204" charset="0"/>
                <a:cs typeface="Clear Sans" panose="020B0604020202020204" charset="0"/>
              </a:rPr>
              <a:t>To  design and </a:t>
            </a:r>
            <a:r>
              <a:rPr lang="en-US" sz="2800" dirty="0"/>
              <a:t>develop a scalable employee management system.</a:t>
            </a:r>
          </a:p>
          <a:p>
            <a:pPr marL="457200" indent="-4572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implement role-based access control for secure system usage.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automate employee record management and attendance tracking.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reduce manual work and improve data accuracy.</a:t>
            </a:r>
          </a:p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800" dirty="0"/>
              <a:t>To provide a user-friendly and responsive interface for all users.</a:t>
            </a:r>
            <a:endParaRPr lang="en-IN" sz="2800" dirty="0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5C14F62-B100-7A1E-9661-3126B7BFC6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0" y="12449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724400" y="545849"/>
            <a:ext cx="9832326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6000" b="1" spc="104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EXISTING </a:t>
            </a:r>
            <a:r>
              <a:rPr lang="en-US" sz="4400" b="1" spc="104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VS </a:t>
            </a:r>
            <a:r>
              <a:rPr lang="en-US" sz="6000" b="1" spc="104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PROPOSED SYSTEMS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749316BA-7404-5CE7-BE1A-730E4F6FB6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8824"/>
              </p:ext>
            </p:extLst>
          </p:nvPr>
        </p:nvGraphicFramePr>
        <p:xfrm>
          <a:off x="3010005" y="2623727"/>
          <a:ext cx="12507725" cy="6907933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209800">
                  <a:extLst>
                    <a:ext uri="{9D8B030D-6E8A-4147-A177-3AD203B41FA5}">
                      <a16:colId xmlns:a16="http://schemas.microsoft.com/office/drawing/2014/main" val="176779500"/>
                    </a:ext>
                  </a:extLst>
                </a:gridCol>
                <a:gridCol w="5712736">
                  <a:extLst>
                    <a:ext uri="{9D8B030D-6E8A-4147-A177-3AD203B41FA5}">
                      <a16:colId xmlns:a16="http://schemas.microsoft.com/office/drawing/2014/main" val="4206490446"/>
                    </a:ext>
                  </a:extLst>
                </a:gridCol>
                <a:gridCol w="4585189">
                  <a:extLst>
                    <a:ext uri="{9D8B030D-6E8A-4147-A177-3AD203B41FA5}">
                      <a16:colId xmlns:a16="http://schemas.microsoft.com/office/drawing/2014/main" val="1989140572"/>
                    </a:ext>
                  </a:extLst>
                </a:gridCol>
              </a:tblGrid>
              <a:tr h="804157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lear Sans" panose="020B0604020202020204" charset="0"/>
                          <a:cs typeface="Clear Sans" panose="020B0604020202020204" charset="0"/>
                        </a:rPr>
                        <a:t>Feature</a:t>
                      </a:r>
                      <a:endParaRPr lang="en-IN" sz="2400" b="1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Clear Sans" panose="020B0604020202020204" charset="0"/>
                          <a:cs typeface="Clear Sans" panose="020B0604020202020204" charset="0"/>
                        </a:rPr>
                        <a:t>Existing Manual/Excel system</a:t>
                      </a:r>
                      <a:endParaRPr lang="en-IN" sz="2400" b="0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dirty="0">
                          <a:latin typeface="Clear Sans" panose="020B0604020202020204" charset="0"/>
                          <a:cs typeface="Clear Sans" panose="020B0604020202020204" charset="0"/>
                        </a:rPr>
                        <a:t>Proposed </a:t>
                      </a:r>
                      <a:r>
                        <a:rPr lang="en-US" sz="2400" b="1" dirty="0">
                          <a:latin typeface="Clear Sans" panose="020B0604020202020204" charset="0"/>
                          <a:cs typeface="Clear Sans" panose="020B0604020202020204" charset="0"/>
                        </a:rPr>
                        <a:t>Role-Based</a:t>
                      </a:r>
                      <a:r>
                        <a:rPr lang="en-US" sz="2400" b="0" dirty="0">
                          <a:latin typeface="Clear Sans" panose="020B0604020202020204" charset="0"/>
                          <a:cs typeface="Clear Sans" panose="020B0604020202020204" charset="0"/>
                        </a:rPr>
                        <a:t> EMS</a:t>
                      </a:r>
                      <a:endParaRPr lang="en-IN" sz="2400" b="0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8431524"/>
                  </a:ext>
                </a:extLst>
              </a:tr>
              <a:tr h="1005561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lear Sans" panose="020B0604020202020204" charset="0"/>
                          <a:cs typeface="Clear Sans" panose="020B0604020202020204" charset="0"/>
                        </a:rPr>
                        <a:t>Data Storage</a:t>
                      </a:r>
                      <a:endParaRPr lang="en-IN" sz="2400" b="1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lear Sans" panose="020B0604020202020204" charset="0"/>
                          <a:cs typeface="Clear Sans" panose="020B0604020202020204" charset="0"/>
                        </a:rPr>
                        <a:t>Dispersed across manual files or various Excel sheets.</a:t>
                      </a:r>
                      <a:endParaRPr lang="en-IN" sz="2400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lear Sans" panose="020B0604020202020204" charset="0"/>
                          <a:cs typeface="Clear Sans" panose="020B0604020202020204" charset="0"/>
                        </a:rPr>
                        <a:t>Centralized database </a:t>
                      </a:r>
                      <a:r>
                        <a:rPr lang="en-US" sz="2400" dirty="0">
                          <a:latin typeface="Clear Sans" panose="020B0604020202020204" charset="0"/>
                          <a:cs typeface="Clear Sans" panose="020B0604020202020204" charset="0"/>
                        </a:rPr>
                        <a:t>acting as a single repository.</a:t>
                      </a:r>
                      <a:endParaRPr lang="en-IN" sz="2400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8771054"/>
                  </a:ext>
                </a:extLst>
              </a:tr>
              <a:tr h="1005561">
                <a:tc>
                  <a:txBody>
                    <a:bodyPr/>
                    <a:lstStyle/>
                    <a:p>
                      <a:r>
                        <a:rPr lang="en-US" dirty="0">
                          <a:latin typeface="Clear Sans" panose="020B0604020202020204" charset="0"/>
                          <a:cs typeface="Clear Sans" panose="020B0604020202020204" charset="0"/>
                        </a:rPr>
                        <a:t> </a:t>
                      </a:r>
                      <a:r>
                        <a:rPr lang="en-US" sz="2400" b="1" dirty="0">
                          <a:latin typeface="Clear Sans" panose="020B0604020202020204" charset="0"/>
                          <a:cs typeface="Clear Sans" panose="020B0604020202020204" charset="0"/>
                        </a:rPr>
                        <a:t>Access Control</a:t>
                      </a:r>
                      <a:endParaRPr lang="en-IN" sz="2400" b="1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lear Sans" panose="020B0604020202020204" charset="0"/>
                          <a:cs typeface="Clear Sans" panose="020B0604020202020204" charset="0"/>
                        </a:rPr>
                        <a:t>No formal restrictions; anyone with the file can see everything.</a:t>
                      </a:r>
                      <a:endParaRPr lang="en-IN" sz="2400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lear Sans" panose="020B0604020202020204" charset="0"/>
                          <a:cs typeface="Clear Sans" panose="020B0604020202020204" charset="0"/>
                        </a:rPr>
                        <a:t>Role-based access </a:t>
                      </a:r>
                      <a:r>
                        <a:rPr lang="en-US" sz="2400" dirty="0">
                          <a:latin typeface="Clear Sans" panose="020B0604020202020204" charset="0"/>
                          <a:cs typeface="Clear Sans" panose="020B0604020202020204" charset="0"/>
                        </a:rPr>
                        <a:t>(Employee, HR, Admin) ensures data privacy.</a:t>
                      </a:r>
                      <a:endParaRPr lang="en-IN" sz="2400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7255613"/>
                  </a:ext>
                </a:extLst>
              </a:tr>
              <a:tr h="920435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lear Sans" panose="020B0604020202020204" charset="0"/>
                          <a:cs typeface="Clear Sans" panose="020B0604020202020204" charset="0"/>
                        </a:rPr>
                        <a:t>Data Integrity</a:t>
                      </a:r>
                      <a:endParaRPr lang="en-IN" sz="2400" b="1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lear Sans" panose="020B0604020202020204" charset="0"/>
                          <a:cs typeface="Clear Sans" panose="020B0604020202020204" charset="0"/>
                        </a:rPr>
                        <a:t>High risk of redundancy, typos and inconsistent versions.</a:t>
                      </a:r>
                      <a:endParaRPr lang="en-IN" sz="2400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lear Sans" panose="020B0604020202020204" charset="0"/>
                          <a:cs typeface="Clear Sans" panose="020B0604020202020204" charset="0"/>
                        </a:rPr>
                        <a:t>Single source of truth</a:t>
                      </a:r>
                      <a:r>
                        <a:rPr lang="en-US" sz="2400" dirty="0">
                          <a:latin typeface="Clear Sans" panose="020B0604020202020204" charset="0"/>
                          <a:cs typeface="Clear Sans" panose="020B0604020202020204" charset="0"/>
                        </a:rPr>
                        <a:t>; validation rules prevent duplication.</a:t>
                      </a:r>
                      <a:endParaRPr lang="en-IN" sz="2400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865428"/>
                  </a:ext>
                </a:extLst>
              </a:tr>
              <a:tr h="906925">
                <a:tc>
                  <a:txBody>
                    <a:bodyPr/>
                    <a:lstStyle/>
                    <a:p>
                      <a:r>
                        <a:rPr lang="en-US" dirty="0">
                          <a:latin typeface="Clear Sans" panose="020B0604020202020204" charset="0"/>
                          <a:cs typeface="Clear Sans" panose="020B0604020202020204" charset="0"/>
                        </a:rPr>
                        <a:t> </a:t>
                      </a:r>
                      <a:r>
                        <a:rPr lang="en-US" sz="2400" b="1" dirty="0">
                          <a:latin typeface="Clear Sans" panose="020B0604020202020204" charset="0"/>
                          <a:cs typeface="Clear Sans" panose="020B0604020202020204" charset="0"/>
                        </a:rPr>
                        <a:t>Efficiency</a:t>
                      </a:r>
                      <a:endParaRPr lang="en-IN" sz="2400" b="1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lear Sans" panose="020B0604020202020204" charset="0"/>
                          <a:cs typeface="Clear Sans" panose="020B0604020202020204" charset="0"/>
                        </a:rPr>
                        <a:t>Time-consuming manual entry and cross-referencing.</a:t>
                      </a:r>
                      <a:endParaRPr lang="en-IN" sz="2400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lear Sans" panose="020B0604020202020204" charset="0"/>
                          <a:cs typeface="Clear Sans" panose="020B0604020202020204" charset="0"/>
                        </a:rPr>
                        <a:t>Real-time update </a:t>
                      </a:r>
                      <a:r>
                        <a:rPr lang="en-US" sz="2400" dirty="0">
                          <a:latin typeface="Clear Sans" panose="020B0604020202020204" charset="0"/>
                          <a:cs typeface="Clear Sans" panose="020B0604020202020204" charset="0"/>
                        </a:rPr>
                        <a:t>and automated workflows.</a:t>
                      </a:r>
                      <a:endParaRPr lang="en-IN" sz="2400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922109"/>
                  </a:ext>
                </a:extLst>
              </a:tr>
              <a:tr h="906925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lear Sans" panose="020B0604020202020204" charset="0"/>
                          <a:cs typeface="Clear Sans" panose="020B0604020202020204" charset="0"/>
                        </a:rPr>
                        <a:t>Security</a:t>
                      </a:r>
                      <a:r>
                        <a:rPr lang="en-US" sz="2800" b="1" dirty="0">
                          <a:latin typeface="Clear Sans" panose="020B0604020202020204" charset="0"/>
                          <a:cs typeface="Clear Sans" panose="020B0604020202020204" charset="0"/>
                        </a:rPr>
                        <a:t> </a:t>
                      </a:r>
                      <a:endParaRPr lang="en-IN" sz="2800" b="1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lear Sans" panose="020B0604020202020204" charset="0"/>
                          <a:cs typeface="Clear Sans" panose="020B0604020202020204" charset="0"/>
                        </a:rPr>
                        <a:t>Low; files can be easily copied, deleted, or shared.</a:t>
                      </a:r>
                      <a:endParaRPr lang="en-IN" sz="2400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lear Sans" panose="020B0604020202020204" charset="0"/>
                          <a:cs typeface="Clear Sans" panose="020B0604020202020204" charset="0"/>
                        </a:rPr>
                        <a:t>Secure encryption </a:t>
                      </a:r>
                      <a:r>
                        <a:rPr lang="en-US" sz="2400" dirty="0">
                          <a:latin typeface="Clear Sans" panose="020B0604020202020204" charset="0"/>
                          <a:cs typeface="Clear Sans" panose="020B0604020202020204" charset="0"/>
                        </a:rPr>
                        <a:t>and controlled permissions.</a:t>
                      </a:r>
                      <a:endParaRPr lang="en-IN" sz="2400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643231"/>
                  </a:ext>
                </a:extLst>
              </a:tr>
              <a:tr h="906925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lear Sans" panose="020B0604020202020204" charset="0"/>
                          <a:cs typeface="Clear Sans" panose="020B0604020202020204" charset="0"/>
                        </a:rPr>
                        <a:t> </a:t>
                      </a:r>
                      <a:r>
                        <a:rPr lang="en-US" sz="2400" b="1" dirty="0">
                          <a:latin typeface="Clear Sans" panose="020B0604020202020204" charset="0"/>
                          <a:cs typeface="Clear Sans" panose="020B0604020202020204" charset="0"/>
                        </a:rPr>
                        <a:t>Management</a:t>
                      </a:r>
                      <a:endParaRPr lang="en-IN" sz="2400" b="1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Clear Sans" panose="020B0604020202020204" charset="0"/>
                          <a:cs typeface="Clear Sans" panose="020B0604020202020204" charset="0"/>
                        </a:rPr>
                        <a:t>Difficult to track history or generate reports.</a:t>
                      </a:r>
                      <a:endParaRPr lang="en-IN" sz="2400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lear Sans" panose="020B0604020202020204" charset="0"/>
                          <a:cs typeface="Clear Sans" panose="020B0604020202020204" charset="0"/>
                        </a:rPr>
                        <a:t>Simplified management </a:t>
                      </a:r>
                      <a:r>
                        <a:rPr lang="en-US" sz="2400" dirty="0">
                          <a:latin typeface="Clear Sans" panose="020B0604020202020204" charset="0"/>
                          <a:cs typeface="Clear Sans" panose="020B0604020202020204" charset="0"/>
                        </a:rPr>
                        <a:t>with instant search and reporting.</a:t>
                      </a:r>
                      <a:endParaRPr lang="en-IN" sz="2400" dirty="0">
                        <a:latin typeface="Clear Sans" panose="020B0604020202020204" charset="0"/>
                        <a:cs typeface="Clear Sans" panose="020B060402020202020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052622"/>
                  </a:ext>
                </a:extLst>
              </a:tr>
            </a:tbl>
          </a:graphicData>
        </a:graphic>
      </p:graphicFrame>
      <p:pic>
        <p:nvPicPr>
          <p:cNvPr id="9" name="Picture 2">
            <a:extLst>
              <a:ext uri="{FF2B5EF4-FFF2-40B4-BE49-F238E27FC236}">
                <a16:creationId xmlns:a16="http://schemas.microsoft.com/office/drawing/2014/main" id="{85976F3D-9ED4-077A-3FDE-40C159B5B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0" y="12449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773714" y="2828649"/>
            <a:ext cx="6858000" cy="6584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100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The system follows a three-tier architecture consisting of frontend, backend, and database.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100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The frontend is developed using React to provide an interactive user interface.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100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The backend is developed using Spring Boot to handle business logic and APIs.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100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MySQL database is used for storing and managing employee data.</a:t>
            </a:r>
          </a:p>
          <a:p>
            <a:pPr marL="457200" lvl="0" indent="-4572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 spc="100" dirty="0">
                <a:solidFill>
                  <a:srgbClr val="3F3E3A"/>
                </a:solidFill>
                <a:latin typeface="Clear Sans"/>
                <a:ea typeface="Clear Sans"/>
                <a:cs typeface="Clear Sans"/>
                <a:sym typeface="Clear Sans"/>
              </a:rPr>
              <a:t>REST APIs are used to enable communication between frontend and backend.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431207" y="1104900"/>
            <a:ext cx="11689257" cy="137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49"/>
              </a:lnSpc>
              <a:spcBef>
                <a:spcPct val="0"/>
              </a:spcBef>
            </a:pPr>
            <a:r>
              <a:rPr lang="en-US" sz="6000" b="1" spc="104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SYSTEM ARCHITECTURE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49B7956-2234-E1EC-959E-71C64497ACB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962" y="2828649"/>
            <a:ext cx="5084698" cy="6782047"/>
          </a:xfrm>
          <a:prstGeom prst="rect">
            <a:avLst/>
          </a:prstGeom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2F613C25-8ECB-3DA8-12C3-1D8199BC0B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0" y="12449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657600" y="1134085"/>
            <a:ext cx="11689257" cy="137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49"/>
              </a:lnSpc>
              <a:spcBef>
                <a:spcPct val="0"/>
              </a:spcBef>
            </a:pPr>
            <a:r>
              <a:rPr lang="en-US" sz="6000" b="1" spc="104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TECHNOLOGY STACK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1A163B-8748-70C6-D629-EF81590616BF}"/>
              </a:ext>
            </a:extLst>
          </p:cNvPr>
          <p:cNvSpPr txBox="1"/>
          <p:nvPr/>
        </p:nvSpPr>
        <p:spPr>
          <a:xfrm>
            <a:off x="4800600" y="3390899"/>
            <a:ext cx="5791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lear Sans" panose="020B0604020202020204" charset="0"/>
                <a:cs typeface="Clear Sans" panose="020B0604020202020204" charset="0"/>
              </a:rPr>
              <a:t>Frontend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lear Sans" panose="020B0604020202020204" charset="0"/>
                <a:cs typeface="Clear Sans" panose="020B0604020202020204" charset="0"/>
              </a:rPr>
              <a:t> React JS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lear Sans" panose="020B0604020202020204" charset="0"/>
                <a:cs typeface="Clear Sans" panose="020B0604020202020204" charset="0"/>
              </a:rPr>
              <a:t>HTML, CSS, JavaScript</a:t>
            </a:r>
            <a:endParaRPr lang="en-IN" sz="2800" dirty="0">
              <a:latin typeface="Clear Sans" panose="020B0604020202020204" charset="0"/>
              <a:cs typeface="Clear Sans" panose="020B060402020202020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F574F2-9BA4-3B16-F4B8-B37748E44F0F}"/>
              </a:ext>
            </a:extLst>
          </p:cNvPr>
          <p:cNvSpPr txBox="1"/>
          <p:nvPr/>
        </p:nvSpPr>
        <p:spPr>
          <a:xfrm>
            <a:off x="12157853" y="3357045"/>
            <a:ext cx="39624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lear Sans" panose="020B0604020202020204" charset="0"/>
                <a:cs typeface="Clear Sans" panose="020B0604020202020204" charset="0"/>
              </a:rPr>
              <a:t>Backend 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Clear Sans" panose="020B0604020202020204" charset="0"/>
                <a:cs typeface="Clear Sans" panose="020B0604020202020204" charset="0"/>
              </a:rPr>
              <a:t>Spring Boot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IN" sz="2800" dirty="0">
                <a:latin typeface="Clear Sans" panose="020B0604020202020204" charset="0"/>
                <a:cs typeface="Clear Sans" panose="020B0604020202020204" charset="0"/>
              </a:rPr>
              <a:t>REST API 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A003F1-3EA8-0C15-B8EF-A1E5263FB87E}"/>
              </a:ext>
            </a:extLst>
          </p:cNvPr>
          <p:cNvSpPr txBox="1"/>
          <p:nvPr/>
        </p:nvSpPr>
        <p:spPr>
          <a:xfrm>
            <a:off x="4800600" y="5495866"/>
            <a:ext cx="5334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lear Sans" panose="020B0604020202020204" charset="0"/>
                <a:cs typeface="Clear Sans" panose="020B0604020202020204" charset="0"/>
              </a:rPr>
              <a:t>Tools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lear Sans" panose="020B0604020202020204" charset="0"/>
                <a:cs typeface="Clear Sans" panose="020B0604020202020204" charset="0"/>
              </a:rPr>
              <a:t>VS Code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lear Sans" panose="020B0604020202020204" charset="0"/>
                <a:cs typeface="Clear Sans" panose="020B0604020202020204" charset="0"/>
              </a:rPr>
              <a:t>Spring Tool Suite/Eclipse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lear Sans" panose="020B0604020202020204" charset="0"/>
                <a:cs typeface="Clear Sans" panose="020B0604020202020204" charset="0"/>
              </a:rPr>
              <a:t>MySQL Workbench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lear Sans" panose="020B0604020202020204" charset="0"/>
                <a:cs typeface="Clear Sans" panose="020B0604020202020204" charset="0"/>
              </a:rPr>
              <a:t>Postman</a:t>
            </a:r>
            <a:endParaRPr lang="en-IN" sz="2800" dirty="0">
              <a:latin typeface="Clear Sans" panose="020B0604020202020204" charset="0"/>
              <a:cs typeface="Clear Sans" panose="020B060402020202020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C83AC4-C6FB-A936-1578-6A27E1B42396}"/>
              </a:ext>
            </a:extLst>
          </p:cNvPr>
          <p:cNvSpPr txBox="1"/>
          <p:nvPr/>
        </p:nvSpPr>
        <p:spPr>
          <a:xfrm>
            <a:off x="12183291" y="5505663"/>
            <a:ext cx="22947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lear Sans" panose="020B0604020202020204" charset="0"/>
                <a:cs typeface="Clear Sans" panose="020B0604020202020204" charset="0"/>
              </a:rPr>
              <a:t>Database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Clear Sans" panose="020B0604020202020204" charset="0"/>
                <a:cs typeface="Clear Sans" panose="020B0604020202020204" charset="0"/>
              </a:rPr>
              <a:t>MySQL</a:t>
            </a:r>
            <a:endParaRPr lang="en-IN" sz="2800" dirty="0">
              <a:latin typeface="Clear Sans" panose="020B0604020202020204" charset="0"/>
              <a:cs typeface="Clear Sans" panose="020B0604020202020204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EE5BE438-662D-C262-E0C8-02FDB6EC1A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0" y="12449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00400" y="876300"/>
            <a:ext cx="11689257" cy="137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49"/>
              </a:lnSpc>
              <a:spcBef>
                <a:spcPct val="0"/>
              </a:spcBef>
            </a:pPr>
            <a:r>
              <a:rPr lang="en-US" sz="6000" b="1" spc="104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MODULES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76636F59-DBB4-F369-0B22-E96E56C96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149" y="2857500"/>
            <a:ext cx="11945296" cy="6858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Admin Module 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 Responsible for managing users, assigning roles, and      controlling the entire system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HR Module 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 Handles employee data, attendance management, and employee-related operations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Employee Module 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 Allows employees to view their profile, attendance, and assigned HR details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Authentication Module 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 Ensures secure login and restricts access based on user roles 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9B83544-F4D9-9B13-52D7-A6A65864D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0" y="12449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569531" y="888569"/>
            <a:ext cx="11689257" cy="137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49"/>
              </a:lnSpc>
              <a:spcBef>
                <a:spcPct val="0"/>
              </a:spcBef>
            </a:pPr>
            <a:r>
              <a:rPr lang="en-US" sz="6000" b="1" spc="104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SYSTEM WORKING FLOW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BF902F3B-7982-E5A6-28DB-1DBFF222F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4365" y="2704016"/>
            <a:ext cx="11929464" cy="6273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The user first enters login credentials such as username and password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The system verifies these credentials from the database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After successful login, the user is redirected to their respective dashboard based on role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Each role has access to specific functionalities within the system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All user actions are processed through backend APIs and stored in the database 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F410C0C4-FBD8-64B3-B759-23287F52E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0" y="12449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942457" y="960487"/>
            <a:ext cx="11689257" cy="1378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549"/>
              </a:lnSpc>
              <a:spcBef>
                <a:spcPct val="0"/>
              </a:spcBef>
            </a:pPr>
            <a:r>
              <a:rPr lang="en-US" sz="6000" b="1" spc="104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ROLE-BASED ACESS CONTROL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A3608C6-B4F4-A332-6BD7-323714F56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2457" y="2352993"/>
            <a:ext cx="12247153" cy="62738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The system implements role-based access control to restrict unauthorized access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Admin has full control over the system including user management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HR can manage employees assigned to them and handle attendance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Employees have limited access to view their own details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No public registration is allowed, ensuring only authorized users can access the system 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4A70A44A-820B-F62C-E4F8-935746E013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0" y="12449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429030" y="1028700"/>
            <a:ext cx="11689257" cy="1455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69"/>
              </a:lnSpc>
              <a:spcBef>
                <a:spcPct val="0"/>
              </a:spcBef>
            </a:pPr>
            <a:r>
              <a:rPr lang="en-US" sz="6000" b="1" spc="110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DATA FLOW OF THE SYSTEM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F2B901B5-C122-C5D3-52D5-7EA45008E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9247" y="2727435"/>
            <a:ext cx="13343525" cy="55737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The frontend sends user requests to the backend through REST APIs 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The backend processes the request using business logic 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Data is stored or retrieved from the MySQL database 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The processed response is sent back to the frontend and displayed to the user </a:t>
            </a:r>
          </a:p>
          <a:p>
            <a:pPr marL="457200" marR="0" lvl="0" indent="-45720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This ensures smooth communication between all system components 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28535262-EB70-C1F1-A178-2086F80BC3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0" y="12449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083870" y="1305789"/>
            <a:ext cx="12120259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6000" b="1" spc="399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PROJECT DEVELOPMENT STEPS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FA7C7D8-DEEB-FB94-4482-502D05A95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2625" y="3280937"/>
            <a:ext cx="12308108" cy="5412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Designed system architecture and identified system modules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Developed backend services using Spring Boot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Created database tables and relationships using MySQL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Built user interface using React components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Integrated frontend with backend using REST APIs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Tested the system using Postman and debugging tools 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9F234022-C508-0C39-0894-B1EDF37E5C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0" y="12449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BD9C3-AE6B-CC55-EF2E-F4C57C5BA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3D58FE9-26B3-C065-F18E-F0E085554F60}"/>
              </a:ext>
            </a:extLst>
          </p:cNvPr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682CDC2-DC87-8759-0C7A-A65B8184E115}"/>
              </a:ext>
            </a:extLst>
          </p:cNvPr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ACB0DC1-D243-7A85-1D10-C20A61FF2130}"/>
              </a:ext>
            </a:extLst>
          </p:cNvPr>
          <p:cNvSpPr/>
          <p:nvPr/>
        </p:nvSpPr>
        <p:spPr>
          <a:xfrm>
            <a:off x="-397659" y="-563061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1FA4F26-A697-8231-9FB3-00713D6D647B}"/>
              </a:ext>
            </a:extLst>
          </p:cNvPr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88055FC-DD95-5B92-B0AF-3DC8D1BD2499}"/>
              </a:ext>
            </a:extLst>
          </p:cNvPr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947920A-3707-6B61-73E9-A75D4DE726F4}"/>
              </a:ext>
            </a:extLst>
          </p:cNvPr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DAC33EE-EF94-0232-017E-89333E4CFE4C}"/>
              </a:ext>
            </a:extLst>
          </p:cNvPr>
          <p:cNvSpPr txBox="1"/>
          <p:nvPr/>
        </p:nvSpPr>
        <p:spPr>
          <a:xfrm>
            <a:off x="3657600" y="1489016"/>
            <a:ext cx="1212025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6000" b="1" spc="399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IMPLEMENTATION DETAILS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745B57F0-5993-8EE0-0EA9-A3760E45218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114800" y="2624833"/>
            <a:ext cx="12120257" cy="5412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The system follows a layered architecture for better organization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Controller layer handles incoming HTTP requests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Service layer contains business logic and processing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Repository layer interacts with the database using JPA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REST APIs are used to connect frontend and backend seamlessly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This structure improves maintainability and scalability of the system </a:t>
            </a:r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4AEBFE45-4C31-25E0-246E-9939168E0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0" y="12449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46566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F5A166-DD4C-2B3B-77B3-065F2667B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E8C75EA-90E9-9820-4C50-75A96A37EF6F}"/>
              </a:ext>
            </a:extLst>
          </p:cNvPr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20D45BF-B39E-3E3A-CD14-BAFC7772F457}"/>
              </a:ext>
            </a:extLst>
          </p:cNvPr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957A4FB-4481-F29D-482A-D8EB6F892E3E}"/>
              </a:ext>
            </a:extLst>
          </p:cNvPr>
          <p:cNvSpPr/>
          <p:nvPr/>
        </p:nvSpPr>
        <p:spPr>
          <a:xfrm>
            <a:off x="-242467" y="-547555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62F83DE-7D5E-8D89-0F76-D14D69057B11}"/>
              </a:ext>
            </a:extLst>
          </p:cNvPr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F258A28-EB0E-2501-6802-EFFEAEF4A0AD}"/>
              </a:ext>
            </a:extLst>
          </p:cNvPr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BE976BE-C3BD-6B27-D3A9-2DE4431A5B23}"/>
              </a:ext>
            </a:extLst>
          </p:cNvPr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C9F4AE1-EE8F-2E70-4D98-02BD46858BF1}"/>
              </a:ext>
            </a:extLst>
          </p:cNvPr>
          <p:cNvSpPr txBox="1"/>
          <p:nvPr/>
        </p:nvSpPr>
        <p:spPr>
          <a:xfrm>
            <a:off x="3083870" y="1257300"/>
            <a:ext cx="1212025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6000" b="1" spc="399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RESULTS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9710F58-06CB-DEA2-8C64-8E1DB31567F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642809" y="2475433"/>
            <a:ext cx="13037362" cy="5412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The system successfully implements secure login functionality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Admin dashboard allows complete control over users and system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HR dashboard enables efficient employee management and attendance tracking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Employee dashboard provides self-service features for users </a:t>
            </a:r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lear Sans" panose="020B0604020202020204" charset="0"/>
                <a:cs typeface="Clear Sans" panose="020B0604020202020204" charset="0"/>
              </a:rPr>
              <a:t>Overall system works efficiently with accurate data handling 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9C9E7ED-72B2-A535-4C8A-DA015B1DD5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0" y="12449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0009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AED7EC-6B6D-60C2-6AD9-E13CF1F91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D32DA47-DABD-B0C8-2F86-0C06D2D33974}"/>
              </a:ext>
            </a:extLst>
          </p:cNvPr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37A6B27-1039-785D-2FF8-3FBBD5716F41}"/>
              </a:ext>
            </a:extLst>
          </p:cNvPr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290E549-E184-4BEC-145E-CACD5F1BB4B5}"/>
              </a:ext>
            </a:extLst>
          </p:cNvPr>
          <p:cNvSpPr/>
          <p:nvPr/>
        </p:nvSpPr>
        <p:spPr>
          <a:xfrm>
            <a:off x="-242467" y="-547555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50005CD-3119-F7DE-F1B9-BFB41E7395E6}"/>
              </a:ext>
            </a:extLst>
          </p:cNvPr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4302A68-1A4D-932F-9B9D-A6097BAE1206}"/>
              </a:ext>
            </a:extLst>
          </p:cNvPr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76CBB6CD-C07F-B5A7-A125-175034AAC54B}"/>
              </a:ext>
            </a:extLst>
          </p:cNvPr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B16468B-3E9B-BCD8-1BD7-DE5E15756013}"/>
              </a:ext>
            </a:extLst>
          </p:cNvPr>
          <p:cNvSpPr txBox="1"/>
          <p:nvPr/>
        </p:nvSpPr>
        <p:spPr>
          <a:xfrm>
            <a:off x="3348341" y="1082821"/>
            <a:ext cx="12120259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6000" b="1" spc="399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CONCLUSION &amp; FUTURE SCOPE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D65FAF-D027-717F-2CED-116BFB953DF0}"/>
              </a:ext>
            </a:extLst>
          </p:cNvPr>
          <p:cNvSpPr txBox="1"/>
          <p:nvPr/>
        </p:nvSpPr>
        <p:spPr>
          <a:xfrm>
            <a:off x="3896914" y="3162300"/>
            <a:ext cx="11734800" cy="6481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lear Sans" panose="020B0604020202020204" charset="0"/>
                <a:cs typeface="Clear Sans" panose="020B0604020202020204" charset="0"/>
              </a:rPr>
              <a:t>Conclusion:</a:t>
            </a:r>
            <a:endParaRPr lang="en-US" sz="2800" dirty="0">
              <a:latin typeface="Clear Sans" panose="020B0604020202020204" charset="0"/>
              <a:cs typeface="Clear Sans" panose="020B060402020202020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lear Sans" panose="020B0604020202020204" charset="0"/>
                <a:cs typeface="Clear Sans" panose="020B0604020202020204" charset="0"/>
              </a:rPr>
              <a:t>The system improves efficiency by automating employee management tasks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lear Sans" panose="020B0604020202020204" charset="0"/>
                <a:cs typeface="Clear Sans" panose="020B0604020202020204" charset="0"/>
              </a:rPr>
              <a:t>It reduces manual errors and ensures data accuracy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lear Sans" panose="020B0604020202020204" charset="0"/>
                <a:cs typeface="Clear Sans" panose="020B0604020202020204" charset="0"/>
              </a:rPr>
              <a:t>Role-based access enhances security and data protection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lear Sans" panose="020B0604020202020204" charset="0"/>
                <a:cs typeface="Clear Sans" panose="020B0604020202020204" charset="0"/>
              </a:rPr>
              <a:t>Provides a scalable solution for modern organizations </a:t>
            </a:r>
          </a:p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Clear Sans" panose="020B0604020202020204" charset="0"/>
                <a:cs typeface="Clear Sans" panose="020B0604020202020204" charset="0"/>
              </a:rPr>
              <a:t>Future Scope:</a:t>
            </a:r>
            <a:endParaRPr lang="en-US" sz="2800" dirty="0">
              <a:latin typeface="Clear Sans" panose="020B0604020202020204" charset="0"/>
              <a:cs typeface="Clear Sans" panose="020B0604020202020204" charset="0"/>
            </a:endParaRP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lear Sans" panose="020B0604020202020204" charset="0"/>
                <a:cs typeface="Clear Sans" panose="020B0604020202020204" charset="0"/>
              </a:rPr>
              <a:t>Development of mobile application for easy access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lear Sans" panose="020B0604020202020204" charset="0"/>
                <a:cs typeface="Clear Sans" panose="020B0604020202020204" charset="0"/>
              </a:rPr>
              <a:t>Integration with cloud platforms for better scalability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Clear Sans" panose="020B0604020202020204" charset="0"/>
                <a:cs typeface="Clear Sans" panose="020B0604020202020204" charset="0"/>
              </a:rPr>
              <a:t>Implementation of advanced analytics and reporting features</a:t>
            </a: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F74FBE3A-B187-6300-7EA4-6BC828168B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0" y="12449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73307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4487CE-1260-314D-50DD-0F8F1868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9AC8B1C-DEB1-3847-87EB-B24317A76751}"/>
              </a:ext>
            </a:extLst>
          </p:cNvPr>
          <p:cNvSpPr/>
          <p:nvPr/>
        </p:nvSpPr>
        <p:spPr>
          <a:xfrm>
            <a:off x="-700087" y="7557666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894D18E-775D-8BA9-1A97-D116381B36B3}"/>
              </a:ext>
            </a:extLst>
          </p:cNvPr>
          <p:cNvSpPr/>
          <p:nvPr/>
        </p:nvSpPr>
        <p:spPr>
          <a:xfrm flipH="1" flipV="1">
            <a:off x="14336122" y="-1528762"/>
            <a:ext cx="4149223" cy="4149223"/>
          </a:xfrm>
          <a:custGeom>
            <a:avLst/>
            <a:gdLst/>
            <a:ahLst/>
            <a:cxnLst/>
            <a:rect l="l" t="t" r="r" b="b"/>
            <a:pathLst>
              <a:path w="4149223" h="4149223">
                <a:moveTo>
                  <a:pt x="4149223" y="4149223"/>
                </a:moveTo>
                <a:lnTo>
                  <a:pt x="0" y="4149223"/>
                </a:lnTo>
                <a:lnTo>
                  <a:pt x="0" y="0"/>
                </a:lnTo>
                <a:lnTo>
                  <a:pt x="4149223" y="0"/>
                </a:lnTo>
                <a:lnTo>
                  <a:pt x="4149223" y="4149223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C3BD1B9-7AE7-8AA8-8120-68CB85618DF8}"/>
              </a:ext>
            </a:extLst>
          </p:cNvPr>
          <p:cNvSpPr/>
          <p:nvPr/>
        </p:nvSpPr>
        <p:spPr>
          <a:xfrm>
            <a:off x="-242467" y="-547555"/>
            <a:ext cx="3293680" cy="2587036"/>
          </a:xfrm>
          <a:custGeom>
            <a:avLst/>
            <a:gdLst/>
            <a:ahLst/>
            <a:cxnLst/>
            <a:rect l="l" t="t" r="r" b="b"/>
            <a:pathLst>
              <a:path w="3293680" h="2587036">
                <a:moveTo>
                  <a:pt x="0" y="0"/>
                </a:moveTo>
                <a:lnTo>
                  <a:pt x="3293680" y="0"/>
                </a:lnTo>
                <a:lnTo>
                  <a:pt x="3293680" y="2587036"/>
                </a:lnTo>
                <a:lnTo>
                  <a:pt x="0" y="258703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A03CD768-9A5B-1EAC-F309-CE4CDEC4FCB0}"/>
              </a:ext>
            </a:extLst>
          </p:cNvPr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9ADABCF-2FDB-390D-AE6D-2B9A8E6F8085}"/>
              </a:ext>
            </a:extLst>
          </p:cNvPr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B53BBC1-8201-6CDA-1AE8-0CE547E4BE22}"/>
              </a:ext>
            </a:extLst>
          </p:cNvPr>
          <p:cNvSpPr/>
          <p:nvPr/>
        </p:nvSpPr>
        <p:spPr>
          <a:xfrm>
            <a:off x="-930668" y="1427489"/>
            <a:ext cx="2179849" cy="1192972"/>
          </a:xfrm>
          <a:custGeom>
            <a:avLst/>
            <a:gdLst/>
            <a:ahLst/>
            <a:cxnLst/>
            <a:rect l="l" t="t" r="r" b="b"/>
            <a:pathLst>
              <a:path w="2179849" h="1192972">
                <a:moveTo>
                  <a:pt x="0" y="0"/>
                </a:moveTo>
                <a:lnTo>
                  <a:pt x="2179849" y="0"/>
                </a:lnTo>
                <a:lnTo>
                  <a:pt x="2179849" y="1192972"/>
                </a:lnTo>
                <a:lnTo>
                  <a:pt x="0" y="1192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9089FF2F-F1E3-2149-11C3-404EE63D74E7}"/>
              </a:ext>
            </a:extLst>
          </p:cNvPr>
          <p:cNvSpPr txBox="1"/>
          <p:nvPr/>
        </p:nvSpPr>
        <p:spPr>
          <a:xfrm>
            <a:off x="3051213" y="3964579"/>
            <a:ext cx="12120259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en-US" sz="9600" b="1" spc="399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THANK YOU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E4A73C-683D-9C7A-E3BF-C32F2DDED201}"/>
              </a:ext>
            </a:extLst>
          </p:cNvPr>
          <p:cNvSpPr txBox="1"/>
          <p:nvPr/>
        </p:nvSpPr>
        <p:spPr>
          <a:xfrm>
            <a:off x="4945371" y="3086100"/>
            <a:ext cx="11734800" cy="664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endParaRPr lang="en-US" sz="2800" dirty="0">
              <a:latin typeface="Clear Sans" panose="020B0604020202020204" charset="0"/>
              <a:cs typeface="Clear Sans" panose="020B0604020202020204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CE572045-CF90-D3C7-DD48-9CA82147C9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0" y="12449"/>
            <a:ext cx="1066800" cy="1066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603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918</Words>
  <Application>Microsoft Office PowerPoint</Application>
  <PresentationFormat>Custom</PresentationFormat>
  <Paragraphs>130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Clear Sans</vt:lpstr>
      <vt:lpstr>Calibri</vt:lpstr>
      <vt:lpstr>Sansation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PHEOBE JYOTHI</dc:creator>
  <cp:lastModifiedBy>Pheobe Chuttugulla</cp:lastModifiedBy>
  <cp:revision>3</cp:revision>
  <dcterms:created xsi:type="dcterms:W3CDTF">2006-08-16T00:00:00Z</dcterms:created>
  <dcterms:modified xsi:type="dcterms:W3CDTF">2026-04-11T06:08:02Z</dcterms:modified>
  <dc:identifier>DAHF_ymbRCY</dc:identifier>
</cp:coreProperties>
</file>